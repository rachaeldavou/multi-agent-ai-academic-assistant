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</a:rPr>
              <a:t>Multi-Agent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22C55E"/>
                </a:solidFill>
              </a:rPr>
              <a:t>Academic Assistant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CBD5E1"/>
                </a:solidFill>
              </a:rPr>
              <a:t>Personalized Tutoring · Analytics · Student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66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4748B"/>
                </a:solidFill>
              </a:rPr>
              <a:t>Powered by LangChain · AutoGen · OpenAI GPT-4o-mini · ChromaDB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0350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</a:rPr>
              <a:t>AI Engineering Internship — Final Project  | 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F2337"/>
                </a:solidFill>
              </a:rP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04672"/>
            <a:ext cx="8412480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</a:rPr>
              <a:t>  •  Students struggle to get personalised academic help at scale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</a:rPr>
              <a:t>  •  Traditional tools answer questions but don't adapt or track progress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9659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</a:rPr>
              <a:t>  •  Three unsolved dimensions in existing tools: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4688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293B"/>
                </a:solidFill>
              </a:rPr>
              <a:t>       Personalised content delivery based on individual weak areas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9260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293B"/>
                </a:solidFill>
              </a:rPr>
              <a:t>       Real-time performance analytics and study plan generation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3832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293B"/>
                </a:solidFill>
              </a:rPr>
              <a:t>       Emotional support and study-strategy guidance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8404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</a:rPr>
              <a:t>  •  One-size-fits-all chatbots lack context about the student's history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F2337"/>
                </a:solidFill>
              </a:rPr>
              <a:t>Solution: Multi-Agent Academic Assistant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04672"/>
            <a:ext cx="8412480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</a:rPr>
              <a:t>  •  Four specialised AI agents collaborating in real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</a:rPr>
              <a:t>  •  OrchestratorAgent — classifies intent and routes to the right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9659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</a:rPr>
              <a:t>  •  TutorAgent — RAG-powered Q&amp;A over course materials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4688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</a:rPr>
              <a:t>  •  AnalyticsAgent — tracks performance, identifies weak areas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9718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</a:rPr>
              <a:t>  •  SupportAgent — motivation, stress management, study strategies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4747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</a:rPr>
              <a:t>  •  Key differentiator: AutoGen group chats let agents collaborate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977639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293B"/>
                </a:solidFill>
              </a:rPr>
              <a:t>       e.g. 'I keep failing neural network quizzes' → Tutor + Analytics together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F2337"/>
                </a:solidFill>
              </a:rP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04672"/>
            <a:ext cx="8412480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2011680" cy="914400"/>
          </a:xfrm>
          <a:prstGeom prst="rect">
            <a:avLst/>
          </a:prstGeom>
          <a:solidFill>
            <a:srgbClr val="0F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Streamlit UI
(Chat, Quiz,
Analytics,
Summarizer)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1097280"/>
            <a:ext cx="2011680" cy="914400"/>
          </a:xfrm>
          <a:prstGeom prst="rect">
            <a:avLst/>
          </a:prstGeom>
          <a:solidFill>
            <a:srgbClr val="0F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Orchestrator
Agent
(Intent routing)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926080"/>
            <a:ext cx="1645920" cy="822960"/>
          </a:xfrm>
          <a:prstGeom prst="rect">
            <a:avLst/>
          </a:prstGeom>
          <a:solidFill>
            <a:srgbClr val="16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Tutor
Agent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40" y="2926080"/>
            <a:ext cx="1645920" cy="822960"/>
          </a:xfrm>
          <a:prstGeom prst="rect">
            <a:avLst/>
          </a:prstGeom>
          <a:solidFill>
            <a:srgbClr val="16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Analytics
Agent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2926080"/>
            <a:ext cx="1645920" cy="822960"/>
          </a:xfrm>
          <a:prstGeom prst="rect">
            <a:avLst/>
          </a:prstGeom>
          <a:solidFill>
            <a:srgbClr val="16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Support
Agent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097280"/>
            <a:ext cx="2011680" cy="914400"/>
          </a:xfrm>
          <a:prstGeom prst="rect">
            <a:avLst/>
          </a:prstGeom>
          <a:solidFill>
            <a:srgbClr val="0D6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AutoGen
Group Chat
(Collaboration)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2926080"/>
            <a:ext cx="2194560" cy="822960"/>
          </a:xfrm>
          <a:prstGeom prst="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ChromaDB
(RAG vector store)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1031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</a:rPr>
              <a:t>↓ routes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560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</a:rPr>
              <a:t>↙  ↓  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1031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</a:rPr>
              <a:t>↕ retrieves context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F2337"/>
                </a:solidFill>
              </a:rP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04672"/>
            <a:ext cx="8412480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</a:rPr>
              <a:t>  •  Language:  Python 3.10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</a:rPr>
              <a:t>  •  LLM:  OpenAI GPT-4o-mini  (chat + embeddings)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9659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</a:rPr>
              <a:t>  •  Multi-Agent Orchestration:  AutoGen (pyautogen)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4688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</a:rPr>
              <a:t>  •  LLM Chains &amp; RAG:  LangChain + LangChain-OpenAI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9718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</a:rPr>
              <a:t>  •  Vector Store:  ChromaDB (persistent, local)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4747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</a:rPr>
              <a:t>  •  Embeddings:  OpenAI text-embedding-3-small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977639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</a:rPr>
              <a:t>  •  UI:  Streamlit with custom CSS (light theme, dark navy sidebar)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480559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</a:rPr>
              <a:t>  •  Visualization:  Plotly (interactive performance charts)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983479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</a:rPr>
              <a:t>  •  Document Support:  PyPDF · python-docx · TextLoader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486399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</a:rPr>
              <a:t>  •  Web Search:  DuckDuckGo (optional live context toggle)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F2337"/>
                </a:solidFill>
              </a:rPr>
              <a:t>Dataset — OpenStax Course Catalogue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04672"/>
            <a:ext cx="8412480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</a:rPr>
              <a:t>  •  4 open-access PDF textbooks  (CC BY 4.0 — Rice University / OpenStax)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293B"/>
                </a:solidFill>
              </a:rPr>
              <a:t>       Introduction to Computer Science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9202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293B"/>
                </a:solidFill>
              </a:rPr>
              <a:t>       Introductory Statistics, 2nd Edition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3774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293B"/>
                </a:solidFill>
              </a:rPr>
              <a:t>       Principles of Data Science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8346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293B"/>
                </a:solidFill>
              </a:rPr>
              <a:t>       Python Programming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2918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</a:rPr>
              <a:t>  •  Cleaning pipeline: PyPDFLoader → RecursiveCharacterTextSplitter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7947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293B"/>
                </a:solidFill>
              </a:rPr>
              <a:t>       Chunk size: 800 chars  |  Overlap: 100 chars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2519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293B"/>
                </a:solidFill>
              </a:rPr>
              <a:t>       Each chunk tagged with source filename for metadata filtering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7091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</a:rPr>
              <a:t>  •  Embedded with text-embedding-3-small → stored in ChromaDB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2120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</a:rPr>
              <a:t>  •  Students can also upload their own PDF / DOCX / TXT files at runtime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F2337"/>
                </a:solidFill>
              </a:rPr>
              <a:t>RAG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04672"/>
            <a:ext cx="8412480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</a:rPr>
              <a:t>  •  Retrieval-Augmented Generation grounds answers in real course content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</a:rPr>
              <a:t>  •  Step 1 — Ingest: load PDFs with PyPDFLoader, split into 800-char chunks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9659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</a:rPr>
              <a:t>  •  Step 2 — Embed: OpenAI text-embedding-3-small converts each chunk to a vector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4688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</a:rPr>
              <a:t>  •  Step 3 — Store: vectors persisted in ChromaDB with source metadata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9718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</a:rPr>
              <a:t>  •  Step 4 — Retrieve: at query time, top-5 most similar chunks fetched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4747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</a:rPr>
              <a:t>  •  Step 5 — Generate: chunks injected into LLM prompt as 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977639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</a:rPr>
              <a:t>  •  Metadata filter: per-course retrieval when a specific book is selected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480559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</a:rPr>
              <a:t>  •  Fallback: if no documents loaded, TutorAgent answers from general knowledge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F2337"/>
                </a:solidFill>
              </a:rPr>
              <a:t>Key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04672"/>
            <a:ext cx="8412480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960120"/>
            <a:ext cx="4114800" cy="2560320"/>
          </a:xfrm>
          <a:prstGeom prst="rect">
            <a:avLst/>
          </a:prstGeom>
          <a:solidFill>
            <a:srgbClr val="E2E8F0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i="1">
                <a:solidFill>
                  <a:srgbClr val="64748B"/>
                </a:solidFill>
              </a:rPr>
              <a:t>[Screenshot: Chat Interface]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35661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2337"/>
                </a:solidFill>
              </a:rPr>
              <a:t>Chat Interface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960120"/>
            <a:ext cx="4114800" cy="2560320"/>
          </a:xfrm>
          <a:prstGeom prst="rect">
            <a:avLst/>
          </a:prstGeom>
          <a:solidFill>
            <a:srgbClr val="E2E8F0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i="1">
                <a:solidFill>
                  <a:srgbClr val="64748B"/>
                </a:solidFill>
              </a:rPr>
              <a:t>[Screenshot: Analytics Dashboard]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35661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2337"/>
                </a:solidFill>
              </a:rPr>
              <a:t>Analytics Dashboard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749039"/>
            <a:ext cx="4114800" cy="2560320"/>
          </a:xfrm>
          <a:prstGeom prst="rect">
            <a:avLst/>
          </a:prstGeom>
          <a:solidFill>
            <a:srgbClr val="E2E8F0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i="1">
                <a:solidFill>
                  <a:srgbClr val="64748B"/>
                </a:solidFill>
              </a:rPr>
              <a:t>[Screenshot: Quiz Generator]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355079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2337"/>
                </a:solidFill>
              </a:rPr>
              <a:t>Quiz Generator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0" y="3749039"/>
            <a:ext cx="4114800" cy="2560320"/>
          </a:xfrm>
          <a:prstGeom prst="rect">
            <a:avLst/>
          </a:prstGeom>
          <a:solidFill>
            <a:srgbClr val="E2E8F0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i="1">
                <a:solidFill>
                  <a:srgbClr val="64748B"/>
                </a:solidFill>
              </a:rPr>
              <a:t>[Screenshot: Summarizer]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6355079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2337"/>
                </a:solidFill>
              </a:rPr>
              <a:t>Summarizer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F2337"/>
                </a:solidFill>
              </a:rPr>
              <a:t>Multi-Agent Collaboration (AutoGen)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04672"/>
            <a:ext cx="8412480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</a:rPr>
              <a:t>  •  Complex queries require both tutoring content AND performance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</a:rPr>
              <a:t>  •  Example: 'I keep failing neural network quizzes — help me'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9659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293B"/>
                </a:solidFill>
              </a:rPr>
              <a:t>       Orchestrator detects need for collaboration, initiates AutoGen group chat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4231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293B"/>
                </a:solidFill>
              </a:rPr>
              <a:t>       TutorBot explains the concept using RAG over course materials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8803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293B"/>
                </a:solidFill>
              </a:rPr>
              <a:t>       AnalyticsBot adds insights from the student's actual quiz history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3375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293B"/>
                </a:solidFill>
              </a:rPr>
              <a:t>       Combined response addresses understanding AND personal weak areas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7947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</a:rPr>
              <a:t>  •  AutoGen manages turn-taking, message passing, and response merging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2976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</a:rPr>
              <a:t>  •  Group chat terminates after one collaborative round to keep responses concise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F2337"/>
                </a:solidFill>
              </a:rPr>
              <a:t>Visualizations — Analytics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04672"/>
            <a:ext cx="8412480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5303520" cy="3840480"/>
          </a:xfrm>
          <a:prstGeom prst="rect">
            <a:avLst/>
          </a:prstGeom>
          <a:solidFill>
            <a:srgbClr val="E2E8F0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i="1">
                <a:solidFill>
                  <a:srgbClr val="64748B"/>
                </a:solidFill>
              </a:rPr>
              <a:t>[Screenshot: Analytics dashboard — Plotly bar chart showing quiz scores
per topic, colour-coded green/amber/red by performance]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0" y="1188720"/>
            <a:ext cx="3017520" cy="685800"/>
          </a:xfrm>
          <a:prstGeom prst="rect">
            <a:avLst/>
          </a:prstGeom>
          <a:solidFill>
            <a:srgbClr val="0F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59" y="1261872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Bar chart: quiz score
per topic (Plotly)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720" y="2103120"/>
            <a:ext cx="3017520" cy="685800"/>
          </a:xfrm>
          <a:prstGeom prst="rect">
            <a:avLst/>
          </a:prstGeom>
          <a:solidFill>
            <a:srgbClr val="0F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59" y="2176272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Colour coding:
Green &gt;= 80%
Amber &gt;= 60%
Red &lt; 60%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0" y="3200400"/>
            <a:ext cx="3017520" cy="685800"/>
          </a:xfrm>
          <a:prstGeom prst="rect">
            <a:avLst/>
          </a:prstGeom>
          <a:solidFill>
            <a:srgbClr val="0F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59" y="3273552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Weak area detection
and study plan
generated by
AnalyticsAgent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4983480"/>
            <a:ext cx="8595360" cy="1554480"/>
          </a:xfrm>
          <a:prstGeom prst="rect">
            <a:avLst/>
          </a:prstGeom>
          <a:solidFill>
            <a:srgbClr val="E2E8F0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i="1">
                <a:solidFill>
                  <a:srgbClr val="64748B"/>
                </a:solidFill>
              </a:rPr>
              <a:t>[Screenshot: Study plan text output from AnalyticsAgent below the chart]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F2337"/>
                </a:solidFill>
              </a:rPr>
              <a:t>Results &amp; Evaluation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04672"/>
            <a:ext cx="8412480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</a:rPr>
              <a:t>  •  All four agents operational: Tutor, Analytics, Support, Orchestrator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</a:rPr>
              <a:t>  •  RAG pipeline retrieves relevant chunks from 4 OpenStax textbooks (~3,000 pages)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9659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</a:rPr>
              <a:t>  •  Quiz scores tracked per topic; weak areas flagged with colour-coded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4688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</a:rPr>
              <a:t>  •  AutoGen collaboration successfully combines tutoring + analytics in one response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9718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</a:rPr>
              <a:t>  •  Web search toggle enriches answers with live context beyond course materials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4747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</a:rPr>
              <a:t>  •  Math equations render correctly via KaTeX ($...$ notation) in Streamlit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977639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</a:rPr>
              <a:t>  •  Student uploads (PDF / DOCX / TXT) embedded and searchable within the session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480559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</a:rPr>
              <a:t>  •  Custom LMS-style UI: light theme, dark navy sidebar, green accent, SVG nav icons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F2337"/>
                </a:solidFill>
              </a:rPr>
              <a:t>Challenges &amp; Solutions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04672"/>
            <a:ext cx="8412480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</a:rPr>
              <a:t>  •  Challenge: LaTeX not rendering in Streamlit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293B"/>
                </a:solidFill>
              </a:rPr>
              <a:t>       Solution: post-process LLM output — convert \[...\] to $...$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9202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</a:rPr>
              <a:t>  •  Challenge: Stale cached agents after code changes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4231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293B"/>
                </a:solidFill>
              </a:rPr>
              <a:t>       Solution: _version class attribute + version check on every request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8803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</a:rPr>
              <a:t>  •  Challenge: Slow startup (ChromaDB + embeddings init on every page load)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3832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293B"/>
                </a:solidFill>
              </a:rPr>
              <a:t>       Solution: @st.cache_resource on stores + lazy indexing per page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8404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</a:rPr>
              <a:t>  •  Challenge: PDFs missing from catalogue (glob matched only .txt)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3434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293B"/>
                </a:solidFill>
              </a:rPr>
              <a:t>       Solution: iterdir() with explicit suffix filter for .pdf / .docx / .txt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8006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</a:rPr>
              <a:t>  •  Challenge: LLM generating wrong quiz answer keys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3035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293B"/>
                </a:solidFill>
              </a:rPr>
              <a:t>       Solution: stronger generate_quiz() prompt with explicit verification instruction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F2337"/>
                </a:solidFill>
              </a:rPr>
              <a:t>Key Learnings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04672"/>
            <a:ext cx="8412480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</a:rPr>
              <a:t>  •  Multi-agent systems need explicit routing logic — LLMs alone don't reliably self-route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</a:rPr>
              <a:t>  •  RAG quality is highly sensitive to chunk size and overlap — tuning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9659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</a:rPr>
              <a:t>  •  Prompt engineering is critical: small wording changes in quiz generation fixed grading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4688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</a:rPr>
              <a:t>  •  Streamlit caching (@st.cache_resource) is essential for LLM-heavy apps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9718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</a:rPr>
              <a:t>  •  AutoGen group chats produce richer responses but require careful termination logic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4747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</a:rPr>
              <a:t>  •  LLM math output needs post-processing — models ignore formatting instructions inconsistently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977639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</a:rPr>
              <a:t>  •  Open-access datasets (OpenStax CC BY 4.0) are a practical alternative to synthetic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480559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</a:rPr>
              <a:t>  •  CSS overrides in Streamlit are fragile — always target data-testid selectors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F2337"/>
                </a:solidFill>
              </a:rPr>
              <a:t>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04672"/>
            <a:ext cx="8412480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</a:rPr>
              <a:t>  •  Persistent student profiles — save progress across sessions (database backend)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</a:rPr>
              <a:t>  •  Adaptive quiz difficulty — harder questions as scores improve over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9659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</a:rPr>
              <a:t>  •  Multi-modal support — image and diagram understanding in academic questions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4688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</a:rPr>
              <a:t>  •  Voice interface — speech-to-text queries and text-to-speech responses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9718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</a:rPr>
              <a:t>  •  Expanded course catalogue — more subjects beyond CS, Stats, Data Science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4747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</a:rPr>
              <a:t>  •  Fine-tuned LLM — train on domain-specific academic Q&amp;A pairs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977639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E293B"/>
                </a:solidFill>
              </a:rPr>
              <a:t>  •  Collaborative study — multiple students sharing the same session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828800"/>
            <a:ext cx="7315200" cy="475488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92807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  Multi-agent system  —  4 specialised agents + AutoGen collaboration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423160"/>
            <a:ext cx="7315200" cy="475488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487168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  RAG pipeline  —  ChromaDB + OpenAI embeddings over OpenStax PDFs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017520"/>
            <a:ext cx="7315200" cy="475488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081527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  Adaptive learning  —  Quiz tracking, weak area detection, study plans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611879"/>
            <a:ext cx="7315200" cy="475488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675887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  Production UI  —  Streamlit with LMS-style custom theme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206240"/>
            <a:ext cx="7315200" cy="475488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270248"/>
            <a:ext cx="7223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  Open dataset  —  4 OpenStax textbooks, CC BY 4.0 licensed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2C55E"/>
                </a:solidFill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