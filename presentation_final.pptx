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0" y="-914400"/>
            <a:ext cx="5943600" cy="5943600"/>
          </a:xfrm>
          <a:prstGeom prst="ellipse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AI Engineering Internship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Multi-Agent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0C9B1"/>
                </a:solidFill>
              </a:rPr>
              <a:t>Academic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3840480" cy="4114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</a:rPr>
              <a:t>Personalised tutoring · Real-time analytics · Student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4"/>
                </a:solidFill>
              </a:rPr>
              <a:t>LangChain  ·  AutoGen  ·  GPT-4o-mini  ·  ChromaDB  ·  Streamlit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17720"/>
            <a:ext cx="980236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654296"/>
            <a:ext cx="8887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LangChain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4617720"/>
            <a:ext cx="819302" cy="274320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4654296"/>
            <a:ext cx="7278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AutoGen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4617720"/>
            <a:ext cx="899769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4654296"/>
            <a:ext cx="80832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ChromaDB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4617720"/>
            <a:ext cx="980236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199" y="4654296"/>
            <a:ext cx="8887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Rachael Farhat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Final Internship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221638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3019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01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28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703320" cy="48463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703320" cy="5943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B1"/>
                </a:solidFill>
              </a:rPr>
              <a:t>No Personalisation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Most academic tools treat every student the same. They answer the question in front of them — but they have no idea what that student has struggled with before, which topics keep tripping them up, or how fast they actually learn.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3703320" cy="48463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88720"/>
            <a:ext cx="3703320" cy="594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35331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</a:rPr>
              <a:t>No Feedback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2024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Students often don't know where they're going wrong until an exam. There's no tool that automatically analyses their quiz history, spots their weak areas, and builds a study plan around those specific gaps.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703320" cy="48463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703320" cy="5943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5331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No Holistic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Academic help and emotional wellbeing are treated as completely separate things. But a student who is burnt out or overwhelmed needs more than another explanation — they need someone (or something) that recognises that.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BB4"/>
                </a:solidFill>
              </a:rPr>
              <a:t>Single-agent chatbots answer one question at a time. They have no memory of who you are, no view of how you're doing, and no specialist depth across all three of these areas at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302105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21066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02 ·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Approach: Four Specialised AI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28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4"/>
                </a:solidFill>
              </a:rPr>
              <a:t>Rather than one generalist chatbot, the system uses four agents — each built for a specific job. A central Orchestrator reads every incoming message, decides which specialist should handle it, and routes it accordingly. For complex queries that need more than one agent, it triggers a live multi-agent collaboration.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5623560" cy="21031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54864" cy="21031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</a:rPr>
              <a:t>🔀  OrchestratorAgent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41448"/>
            <a:ext cx="521208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The entry point for every query. It classifies intent into one of four categories — TUTOR, ANALYTICS, SUPPORT, or COLLABORATION — and routes the message to the right agent. For complex mixed queries, it launches an AutoGen group chat where multiple agents contribute to a single combined answer.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1874519"/>
            <a:ext cx="5623560" cy="21031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874519"/>
            <a:ext cx="54864" cy="2103120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9842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6A"/>
                </a:solidFill>
              </a:rPr>
              <a:t>📚  TutorAgent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441448"/>
            <a:ext cx="521208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Handles all academic questions. It retrieves the most relevant chunks from the OpenStax course materials using RAG, then generates a grounded answer. It also produces adaptive multiple-choice quizzes on any topic, using structured output so the grading is always accurate.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5623560" cy="21031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54864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📊  AnalyticsAgent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73168"/>
            <a:ext cx="521208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Tracks every quiz the student has taken in the current session. When asked about progress, it calculates their average score, identifies which topics they keep struggling with, and generates a personalised study plan targeting those exact gaps.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4206240"/>
            <a:ext cx="5623560" cy="21031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4206240"/>
            <a:ext cx="54864" cy="2103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43159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💬  SupportAgent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773168"/>
            <a:ext cx="521208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Handles the human side of studying. When a student says they're stressed, overwhelmed, or losing motivation, this agent responds with practical guidance on study strategies, time management, and wellbeing — rather than pushing more academic content at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221638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3019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03 ·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/ ML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28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5623560" cy="16276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" cy="16276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93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Large Language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All agents are powered by OpenAI GPT-4o-mini via LangChain's ChatOpenAI. It handles everything from answering academic questions to classifying intent and generating quiz content.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170432"/>
            <a:ext cx="5623560" cy="16276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170432"/>
            <a:ext cx="54864" cy="1627632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2893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6A"/>
                </a:solidFill>
              </a:rPr>
              <a:t>Retrieval-Augmented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682496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Instead of relying on the LLM's training data alone, the Tutor retrieves the five most relevant chunks from ChromaDB and injects them directly into the prompt — so every answer is grounded in actual course material.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5623560" cy="16276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54864" cy="16276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906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Text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83864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Each document chunk is converted to a 1536-dimensional vector using OpenAI's text-embedding-3-small model. These vectors are stored persistently in ChromaDB and searched by cosine similarity at query 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2971800"/>
            <a:ext cx="5623560" cy="16276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2971800"/>
            <a:ext cx="54864" cy="16276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0906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Structured Output (Pydantic)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483864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Quiz questions are generated using ChatOpenAI.with_structured_output(), which returns a typed Python object with the correct answer and distractors as plain text. Python code then shuffles the options and assigns A/B/C/D — the LLM never picks a letter, so grading is always correct.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73168"/>
            <a:ext cx="5623560" cy="16276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773168"/>
            <a:ext cx="54864" cy="162763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Multi-Agent Coordination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85231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For queries that need both tutoring knowledge and performance data, AutoGen's RoundRobinGroupChat runs TutorBot and AnalyticsBot in sequence. TextMentionTermination and a max turn limit keep the conversation from running indefinitely.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7648" y="4773168"/>
            <a:ext cx="5623560" cy="1627632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4773168"/>
            <a:ext cx="54864" cy="1627632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8920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6A"/>
                </a:solidFill>
              </a:rPr>
              <a:t>Zero-Shot Intent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285231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The Orchestrator sends every query to the LLM with a system prompt listing the four valid categories. It reads the single-word reply and routes accordingly, falling back to TUTOR if the response is anything unexpected.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980236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8887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04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&amp; RAG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28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5394960" cy="5230368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" cy="52303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</a:rPr>
              <a:t>OpenStax Textbooks  (CC BY 4.0)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4983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4"/>
                </a:solidFill>
              </a:rPr>
              <a:t>All course material comes from OpenStax — free, peer-reviewed university textbooks. Two books covering introductory CS and statistics form the core knowledge 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87168"/>
            <a:ext cx="5029200" cy="1051560"/>
          </a:xfrm>
          <a:prstGeom prst="rect">
            <a:avLst/>
          </a:prstGeom>
          <a:solidFill>
            <a:srgbClr val="0F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487168"/>
            <a:ext cx="41148" cy="1051560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578608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Introduction to Computer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44368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4"/>
                </a:solidFill>
              </a:rPr>
              <a:t>Algorithms, data structures, programming fundamentals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749039"/>
            <a:ext cx="5029200" cy="1051560"/>
          </a:xfrm>
          <a:prstGeom prst="rect">
            <a:avLst/>
          </a:prstGeom>
          <a:solidFill>
            <a:srgbClr val="0F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749039"/>
            <a:ext cx="41148" cy="1051560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40479"/>
            <a:ext cx="4709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Introductory Statistics, 2e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0624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4"/>
                </a:solidFill>
              </a:rPr>
              <a:t>Probability, hypothesis testing, regression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12064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4"/>
                </a:solidFill>
              </a:rPr>
              <a:t>Students can also upload their own PDFs, DOCX files, or plain text at any time — these are embedded on the fly and become immediately searchable within that session.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17043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</a:rPr>
              <a:t>How RAG 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719072"/>
            <a:ext cx="475488" cy="47548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78308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42A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175564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2011679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PyPDFLoader reads every PDF in /data/course_catalogue/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3368" y="2212848"/>
            <a:ext cx="54864" cy="329184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2542032"/>
            <a:ext cx="475488" cy="475488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606039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42A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257860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Chunk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2834639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Split into 800-character pieces with 100-char overlap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3368" y="3035808"/>
            <a:ext cx="54864" cy="329184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364991"/>
            <a:ext cx="475488" cy="475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428999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42A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340156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Embed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3657599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text-embedding-3-small converts each chunk to a 1536-dim vector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3368" y="3858768"/>
            <a:ext cx="54864" cy="329184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4187952"/>
            <a:ext cx="475488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25196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42A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422452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8272" y="448056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Vectors saved to ChromaDB on disk with a source metadata tag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3368" y="4681728"/>
            <a:ext cx="54864" cy="329184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5010912"/>
            <a:ext cx="475488" cy="47548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507492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42A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504748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Retrieve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530352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At query time, the five most similar chunks are fetched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3368" y="5504688"/>
            <a:ext cx="54864" cy="329184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5833872"/>
            <a:ext cx="475488" cy="475488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589788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42A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8272" y="587044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61264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Those chunks are injected into the LLM prompt as grounding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623974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53253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05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28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103120" cy="914400"/>
          </a:xfrm>
          <a:prstGeom prst="rect">
            <a:avLst/>
          </a:prstGeom>
          <a:solidFill>
            <a:srgbClr val="14223E"/>
          </a:solidFill>
          <a:ln w="19050">
            <a:solidFill>
              <a:srgbClr val="8A9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103120" cy="50292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B4"/>
                </a:solidFill>
              </a:rPr>
              <a:t>👤 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Sends a question or
takes a quiz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188720"/>
            <a:ext cx="2560320" cy="914400"/>
          </a:xfrm>
          <a:prstGeom prst="rect">
            <a:avLst/>
          </a:prstGeom>
          <a:solidFill>
            <a:srgbClr val="14223E"/>
          </a:solidFill>
          <a:ln w="1905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1188720"/>
            <a:ext cx="2560320" cy="5029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28016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</a:rPr>
              <a:t>🖥  Streamlit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66420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Chat · Quiz · Analytics · Upload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188720"/>
            <a:ext cx="5303520" cy="914400"/>
          </a:xfrm>
          <a:prstGeom prst="rect">
            <a:avLst/>
          </a:prstGeom>
          <a:solidFill>
            <a:srgbClr val="1422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30352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2801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🔀  OrchestratorAgent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664208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Classifies intent → routes to specialist
or starts AutoGen group chat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7168" y="1613916"/>
            <a:ext cx="512064" cy="228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80944" y="1572768"/>
            <a:ext cx="128016" cy="105156"/>
          </a:xfrm>
          <a:prstGeom prst="round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87568" y="1613916"/>
            <a:ext cx="603504" cy="228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72784" y="1572768"/>
            <a:ext cx="128016" cy="10515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834640"/>
            <a:ext cx="3429000" cy="914400"/>
          </a:xfrm>
          <a:prstGeom prst="rect">
            <a:avLst/>
          </a:prstGeom>
          <a:solidFill>
            <a:srgbClr val="14223E"/>
          </a:solidFill>
          <a:ln w="19050">
            <a:solidFill>
              <a:srgbClr val="22D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834640"/>
            <a:ext cx="3429000" cy="50292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9260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6A"/>
                </a:solidFill>
              </a:rPr>
              <a:t>📚  TutorAgent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10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RAG Q&amp;A grounded in course
materials + quiz generation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834640"/>
            <a:ext cx="3429000" cy="914400"/>
          </a:xfrm>
          <a:prstGeom prst="rect">
            <a:avLst/>
          </a:prstGeom>
          <a:solidFill>
            <a:srgbClr val="14223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2834640"/>
            <a:ext cx="342900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29260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📊  AnalyticsAgent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310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Quiz history · weak area
detection · study plans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2834640"/>
            <a:ext cx="3566160" cy="914400"/>
          </a:xfrm>
          <a:prstGeom prst="rect">
            <a:avLst/>
          </a:prstGeom>
          <a:solidFill>
            <a:srgbClr val="14223E"/>
          </a:solidFill>
          <a:ln w="1905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2834640"/>
            <a:ext cx="3566160" cy="5029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29260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</a:rPr>
              <a:t>💬  SupportAgent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31012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Wellbeing · motivation
· study strategy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66276" y="2103120"/>
            <a:ext cx="22860" cy="-18287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ctagon 35"/>
          <p:cNvSpPr/>
          <p:nvPr/>
        </p:nvSpPr>
        <p:spPr>
          <a:xfrm>
            <a:off x="9025128" y="2066543"/>
            <a:ext cx="105156" cy="128016"/>
          </a:xfrm>
          <a:prstGeom prst="octagon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57400" y="2286000"/>
            <a:ext cx="7863840" cy="36576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98548" y="2286000"/>
            <a:ext cx="22860" cy="384048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ctagon 38"/>
          <p:cNvSpPr/>
          <p:nvPr/>
        </p:nvSpPr>
        <p:spPr>
          <a:xfrm>
            <a:off x="2057400" y="2651760"/>
            <a:ext cx="105156" cy="128016"/>
          </a:xfrm>
          <a:prstGeom prst="octagon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4748" y="2286000"/>
            <a:ext cx="22860" cy="384048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ctagon 40"/>
          <p:cNvSpPr/>
          <p:nvPr/>
        </p:nvSpPr>
        <p:spPr>
          <a:xfrm>
            <a:off x="5943600" y="2651760"/>
            <a:ext cx="105156" cy="128016"/>
          </a:xfrm>
          <a:prstGeom prst="octagon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34956" y="2286000"/>
            <a:ext cx="22860" cy="384048"/>
          </a:xfrm>
          <a:prstGeom prst="rect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ctagon 42"/>
          <p:cNvSpPr/>
          <p:nvPr/>
        </p:nvSpPr>
        <p:spPr>
          <a:xfrm>
            <a:off x="9893808" y="2651760"/>
            <a:ext cx="105156" cy="128016"/>
          </a:xfrm>
          <a:prstGeom prst="octagon">
            <a:avLst/>
          </a:prstGeom>
          <a:solidFill>
            <a:srgbClr val="8A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4389120"/>
            <a:ext cx="3429000" cy="960120"/>
          </a:xfrm>
          <a:prstGeom prst="rect">
            <a:avLst/>
          </a:prstGeom>
          <a:solidFill>
            <a:srgbClr val="14223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4389120"/>
            <a:ext cx="3429000" cy="502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4805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🗄  ChromaDB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8646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Persistent vector store
OpenStax chunks + user uploads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4389120"/>
            <a:ext cx="3429000" cy="960120"/>
          </a:xfrm>
          <a:prstGeom prst="rect">
            <a:avLst/>
          </a:prstGeom>
          <a:solidFill>
            <a:srgbClr val="14223E"/>
          </a:solidFill>
          <a:ln w="19050">
            <a:solidFill>
              <a:srgbClr val="22D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51960" y="4389120"/>
            <a:ext cx="3429000" cy="50292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448055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6A"/>
                </a:solidFill>
              </a:rPr>
              <a:t>⚡  AutoGen Group Chat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48646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TutorBot + AnalyticsBot collaborate
on COLLABORATION-intent queries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4389120"/>
            <a:ext cx="3566160" cy="960120"/>
          </a:xfrm>
          <a:prstGeom prst="rect">
            <a:avLst/>
          </a:prstGeom>
          <a:solidFill>
            <a:srgbClr val="14223E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38160" y="4389120"/>
            <a:ext cx="356616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4480559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🔍  DuckDuckGo Search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486460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Optional toggle — live web
context beyond course materials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98548" y="3749039"/>
            <a:ext cx="22860" cy="512064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ctagon 56"/>
          <p:cNvSpPr/>
          <p:nvPr/>
        </p:nvSpPr>
        <p:spPr>
          <a:xfrm>
            <a:off x="2057400" y="4242816"/>
            <a:ext cx="105156" cy="128016"/>
          </a:xfrm>
          <a:prstGeom prst="octagon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84748" y="3749039"/>
            <a:ext cx="22860" cy="512064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ctagon 58"/>
          <p:cNvSpPr/>
          <p:nvPr/>
        </p:nvSpPr>
        <p:spPr>
          <a:xfrm>
            <a:off x="5943600" y="4242816"/>
            <a:ext cx="105156" cy="128016"/>
          </a:xfrm>
          <a:prstGeom prst="octagon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6235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B4"/>
                </a:solidFill>
              </a:rPr>
              <a:t>* OrchestratorAgent connects directly to AutoGen for COLLABORATION queries; TutorAgent pulls from ChromaDB for every RAG-grounded response.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302105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21066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06 ·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Features — Chat Tutor &amp;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28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577840" cy="4206240"/>
          </a:xfrm>
          <a:prstGeom prst="rect">
            <a:avLst/>
          </a:prstGeom>
          <a:solidFill>
            <a:srgbClr val="14223E"/>
          </a:solidFill>
          <a:ln w="1270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8A9BB4"/>
                </a:solidFill>
              </a:rPr>
              <a:t>[ Screenshot: Chat + RAG Tutor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766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Chat Tutor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42432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4"/>
                </a:solidFill>
              </a:rPr>
              <a:t>Ask any academic question and the TutorAgent retrieves the most relevant passages from the OpenStax textbooks using RAG, then constructs a grounded answer. You can also toggle on live web search for context that goes beyond the course materials.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097280"/>
            <a:ext cx="5577840" cy="4206240"/>
          </a:xfrm>
          <a:prstGeom prst="rect">
            <a:avLst/>
          </a:prstGeom>
          <a:solidFill>
            <a:srgbClr val="14223E"/>
          </a:solidFill>
          <a:ln w="12700">
            <a:solidFill>
              <a:srgbClr val="22D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8A9BB4"/>
                </a:solidFill>
              </a:rPr>
              <a:t>[ Screenshot: Analytics Dashboard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53766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6A"/>
                </a:solidFill>
              </a:rPr>
              <a:t>Analytics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742432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4"/>
                </a:solidFill>
              </a:rPr>
              <a:t>A Plotly bar chart shows quiz scores per topic, colour-coded by performance tier — green for 80%+, amber for 60–79%, red below 60%. Below the chart, the AnalyticsAgent generates a study plan targeting the student's weakest areas.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302105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21066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07 ·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Features — Quiz &amp; Document Upload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28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577840" cy="4206240"/>
          </a:xfrm>
          <a:prstGeom prst="rect">
            <a:avLst/>
          </a:prstGeom>
          <a:solidFill>
            <a:srgbClr val="14223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8A9BB4"/>
                </a:solidFill>
              </a:rPr>
              <a:t>[ Screenshot: Quiz Generator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766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Quiz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42432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4"/>
                </a:solidFill>
              </a:rPr>
              <a:t>Enter any topic and the system generates multiple-choice questions grounded in course material. Pydantic structured output guarantees that the correct answer is always marked correctly — the LLM returns text only, and Python assigns the option letters after shuffling.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097280"/>
            <a:ext cx="5577840" cy="4206240"/>
          </a:xfrm>
          <a:prstGeom prst="rect">
            <a:avLst/>
          </a:prstGeom>
          <a:solidFill>
            <a:srgbClr val="14223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8A9BB4"/>
                </a:solidFill>
              </a:rPr>
              <a:t>[ Screenshot: Document Upload &amp; Summariser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53766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Document Upload &amp; Summariser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742432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4"/>
                </a:solidFill>
              </a:rPr>
              <a:t>Students can upload their own PDF, DOCX, or TXT files. The document is chunked and embedded immediately, making it searchable in the same RAG pipeline alongside the course catalogue. A one-click summariser produces a structured overview of any uploaded material.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221638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3019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28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2834640" cy="169164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" cy="16916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C9B1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3911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Specialist AI agents
fully operational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2424" y="1170432"/>
            <a:ext cx="2834640" cy="169164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2424" y="1170432"/>
            <a:ext cx="54864" cy="1691640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13533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2D36A"/>
                </a:solidFill>
              </a:rPr>
              <a:t>~3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03911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OpenStax pages indexed
in ChromaDB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7648" y="1170432"/>
            <a:ext cx="2834640" cy="169164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170432"/>
            <a:ext cx="54864" cy="1691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3533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03911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Quiz grading accuracy
via Pydantic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62872" y="1170432"/>
            <a:ext cx="2834640" cy="169164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62872" y="1170432"/>
            <a:ext cx="54864" cy="1691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1" y="135331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A78BFA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1" y="2039112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Core features shipped
(Chat · Quiz · Analytics
·Upload · Support)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272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What was achieved: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164592" cy="16459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5753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All four agents are operational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867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Intent routing has been tested and verified across tutoring, analytics, support, and collaboration query types.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61688"/>
            <a:ext cx="164592" cy="16459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325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RAG delivers accurate, grounded answers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ChromaDB retrieves relevant chunks from the OpenStax textbooks, keeping responses tied to actual course content rather than LLM guesswork.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11496"/>
            <a:ext cx="164592" cy="16459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074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Quiz grading is now fully reliable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3675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Switching to Pydantic structured output eliminated the persistent grading bug — the LLM no longer assigns option letters, so answers can never be mislabelled.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861304"/>
            <a:ext cx="164592" cy="16459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824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AutoGen collaboration works end-to-end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61173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4"/>
                </a:solidFill>
              </a:rPr>
              <a:t>For complex queries that need both tutoring depth and personalised analytics, TutorBot and AnalyticsBot collaborate and return a single combined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784908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6934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09 ·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Visualizations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28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4"/>
                </a:solidFill>
              </a:rPr>
              <a:t>The analytics dashboard is built with Plotly and gives students a clear view of where they stand across every topic they've been quizzed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7178040" cy="3840480"/>
          </a:xfrm>
          <a:prstGeom prst="rect">
            <a:avLst/>
          </a:prstGeom>
          <a:solidFill>
            <a:srgbClr val="14223E"/>
          </a:solidFill>
          <a:ln w="12700">
            <a:solidFill>
              <a:srgbClr val="00C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8A9BB4"/>
                </a:solidFill>
              </a:rPr>
              <a:t>[ Screenshot: Plotly analytics bar chart ]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600200"/>
            <a:ext cx="4069080" cy="8229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0" y="1600200"/>
            <a:ext cx="50292" cy="8229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167335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</a:rPr>
              <a:t>Colour-coded bars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20025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Green ≥ 80% · Amber ≥ 60% · Red &lt; 60%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578608"/>
            <a:ext cx="4069080" cy="8229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578608"/>
            <a:ext cx="50292" cy="822960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265176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6A"/>
                </a:solidFill>
              </a:rPr>
              <a:t>Personalised study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98094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AnalyticsAgent text output appears below the chart with targeted recommendations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557016"/>
            <a:ext cx="4069080" cy="8229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3557016"/>
            <a:ext cx="50292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363016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Session stats in sidebar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9593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Total questions answered, current average score, and streak counter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535424"/>
            <a:ext cx="4069080" cy="8229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4535424"/>
            <a:ext cx="50292" cy="8229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460857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Instant quiz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9377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Each answer shows whether it was correct and why, immediately after submission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32120"/>
            <a:ext cx="7178040" cy="822960"/>
          </a:xfrm>
          <a:prstGeom prst="rect">
            <a:avLst/>
          </a:prstGeom>
          <a:solidFill>
            <a:srgbClr val="14223E"/>
          </a:solidFill>
          <a:ln w="12700">
            <a:solidFill>
              <a:srgbClr val="22D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i="1">
                <a:solidFill>
                  <a:srgbClr val="8A9BB4"/>
                </a:solidFill>
              </a:rPr>
              <a:t>[ Screenshot: AnalyticsAgent study plan output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63039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3715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10 ·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Challenges &amp; How We Solved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28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5669280" cy="2029968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" cy="20299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6187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Quiz grading always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64208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Problem: No matter how the prompt was worded, the LLM kept assigning the wrong letter to the correct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Fix: Switched to Pydantic structured output — the LLM now returns the correct answer and distractors as plain text strings. Python shuffles the four options and assigns A/B/C/D in code. The LLM never touches the letters, so grading cannot go wrong.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3368" y="1170432"/>
            <a:ext cx="5669280" cy="2029968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4864" cy="20299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26187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LaTeX not rendering in the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664208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Problem: Mathematical expressions were appearing as raw \frac{}{} strings rather than formatted equations.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212848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Fix: Added a post-processing step that converts all LLM output to KaTeX-compatible $...$ notation before it's passed to Streamlit's markdown renderer.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5669280" cy="2029968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54864" cy="2029968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6A"/>
                </a:solidFill>
              </a:rPr>
              <a:t>Stale agent instances after code changes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68496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Problem: After updating agent logic, Streamlit's session state kept serving the old cached OrchestratorAgent object.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17136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Fix: Added a _version class attribute. The get_orchestrator() function compares the cached object's version against the current class version and rebuilds if they don't match.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3368" y="3474720"/>
            <a:ext cx="5669280" cy="2029968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3368" y="3474720"/>
            <a:ext cx="54864" cy="20299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5661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App was slow to 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3968496"/>
            <a:ext cx="5349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Problem: ChromaDB and the OpenAI embedding model were being reinitialised on every single page interaction.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4517136"/>
            <a:ext cx="5349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Fix: Wrapped both vector stores with @st.cache_resource so they're only created once per server process. Catalogue indexing was also made lazy — it runs on the first query, not at startup.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779008"/>
            <a:ext cx="11384280" cy="2029968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779008"/>
            <a:ext cx="54864" cy="202996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7044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Wrong files appearing in the catalogue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7278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4"/>
                </a:solidFill>
              </a:rPr>
              <a:t>Problem: iterdir() was picking up hidden files and OS metadata files alongside the actual PDFs.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82142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Fix: Added an explicit suffix check so only .pdf, .docx, and .txt files are treated as course materials.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382572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2911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B142A"/>
                </a:solidFill>
              </a:rPr>
              <a:t>11 ·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Learnings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2286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5669280" cy="16459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70432"/>
            <a:ext cx="54864" cy="1645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LLMs need clear instructions to route correctly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19072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Without telling the model exactly which categories exist and what falls into each one, it will sometimes handle queries it should have passed to a specialist. A simple system prompt with four named categories fixed this completely.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3368" y="1170432"/>
            <a:ext cx="5669280" cy="16459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3368" y="1170432"/>
            <a:ext cx="54864" cy="1645920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280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6A"/>
                </a:solidFill>
              </a:rPr>
              <a:t>Structured output is the right tool for precise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719072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Asking the LLM to generate quiz questions AND assign the correct letter in free text always broke. Separating the two — LLM writes the content, Python handles the structure — made the quiz reliable immediately.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99232"/>
            <a:ext cx="5669280" cy="16459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99232"/>
            <a:ext cx="54864" cy="1645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How you split documents affects answer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47872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Chunks that were too large pulled in unrelated content. Chunks that were too small cut off explanations halfway through. Finding the right size (800 characters, 100 overlap) made a noticeable difference in answer accuracy.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2999232"/>
            <a:ext cx="5669280" cy="16459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73368" y="2999232"/>
            <a:ext cx="54864" cy="1645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31089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Caching is essential for AI apps to feel fast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547872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Without caching, the app was re-loading the entire document library on every click — taking around 20 seconds each time. One line of Streamlit caching brought that down to under 2 seconds.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28032"/>
            <a:ext cx="5669280" cy="16459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28032"/>
            <a:ext cx="54864" cy="1645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</a:rPr>
              <a:t>Multi-agent systems need a defined stopping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76672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The first time AutoGen ran without a turn limit, it just kept going. You have to explicitly tell the system when a conversation is finished, or it won't stop on its own.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3368" y="4828032"/>
            <a:ext cx="5669280" cy="164592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3368" y="4828032"/>
            <a:ext cx="54864" cy="1645920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4937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6A"/>
                </a:solidFill>
              </a:rPr>
              <a:t>Real content beats made-up examples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5376672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Using actual OpenStax textbooks meant the assistant was answering questions from real course material from day one. Students got accurate, relevant answers rather than generic explanations the model invented.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0" y="-731520"/>
            <a:ext cx="5943600" cy="5943600"/>
          </a:xfrm>
          <a:prstGeom prst="ellipse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B1"/>
                </a:solidFill>
              </a:rPr>
              <a:t>Multi-Agent AI Academic Assistant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56432"/>
            <a:ext cx="3200400" cy="4114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BB4"/>
                </a:solidFill>
              </a:rPr>
              <a:t>Four specialised agents. One seamless experience for students.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51960"/>
            <a:ext cx="1141171" cy="2743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88536"/>
            <a:ext cx="10497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A"/>
                </a:solidFill>
              </a:rPr>
              <a:t>4 AI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4251960"/>
            <a:ext cx="1463039" cy="274320"/>
          </a:xfrm>
          <a:prstGeom prst="rect">
            <a:avLst/>
          </a:prstGeom>
          <a:solidFill>
            <a:srgbClr val="22D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4288536"/>
            <a:ext cx="137159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A"/>
                </a:solidFill>
              </a:rPr>
              <a:t>RAG · ~3K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251960"/>
            <a:ext cx="1704441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288536"/>
            <a:ext cx="161300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A"/>
                </a:solidFill>
              </a:rPr>
              <a:t>100% quiz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4251960"/>
            <a:ext cx="1221638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288536"/>
            <a:ext cx="113019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142A"/>
                </a:solidFill>
              </a:rPr>
              <a:t>LMS-style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9B1"/>
                </a:solidFill>
              </a:rPr>
              <a:t>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4"/>
                </a:solidFill>
              </a:rPr>
              <a:t>Rachael Farhat  ·  AI Engineering Internship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